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solidFill>
            <a:srgbClr val="17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UrbanGreen AI</a:t>
            </a:r>
          </a:p>
          <a:p>
            <a:pPr>
              <a:spcBef>
                <a:spcPts val="1000"/>
              </a:spcBef>
              <a:defRPr sz="2200">
                <a:solidFill>
                  <a:srgbClr val="2ECC71"/>
                </a:solidFill>
                <a:latin typeface="Calibri"/>
              </a:defRPr>
            </a:pPr>
            <a:r>
              <a:t>Autonomous Geospatial Intelligence &amp; Satellite-Driven Green Interventions</a:t>
            </a:r>
          </a:p>
          <a:p>
            <a:pPr>
              <a:spcBef>
                <a:spcPts val="1400"/>
              </a:spcBef>
              <a:defRPr sz="1500">
                <a:solidFill>
                  <a:srgbClr val="B4CDBE"/>
                </a:solidFill>
                <a:latin typeface="Calibri"/>
              </a:defRPr>
            </a:pPr>
            <a:r>
              <a:t>Transforming raw earth observation, satellite reanalysis, and vector networks into actionable urban cooling and greening roadmaps.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62D21"/>
          </a:solidFill>
          <a:ln>
            <a:solidFill>
              <a:srgbClr val="28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Track: Sustainable Living &amp; Resilient Cities   |   Live Demo: urbangreen-ai.onrender.com/ui</a:t>
            </a:r>
          </a:p>
          <a:p>
            <a:pPr>
              <a:spcBef>
                <a:spcPts val="600"/>
              </a:spcBef>
              <a:defRPr sz="1300">
                <a:solidFill>
                  <a:srgbClr val="2ECC71"/>
                </a:solidFill>
                <a:latin typeface="Calibri"/>
              </a:defRPr>
            </a:pPr>
            <a:r>
              <a:t>GitHub Repository: https://github.com/sunny-kumar-yadav-byte/urbangreen-ai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The Challenge: Urban Heat Islands &amp; Planning Blindspots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🔥</a:t>
            </a:r>
          </a:p>
          <a:p>
            <a:pPr>
              <a:spcBef>
                <a:spcPts val="1400"/>
              </a:spcBef>
              <a:defRPr sz="1800" b="1">
                <a:solidFill>
                  <a:srgbClr val="1A261E"/>
                </a:solidFill>
                <a:latin typeface="Calibri"/>
              </a:defRPr>
            </a:pPr>
            <a:r>
              <a:t>Extreme Heat Concentration</a:t>
            </a:r>
          </a:p>
          <a:p>
            <a:pPr>
              <a:spcBef>
                <a:spcPts val="10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Impervious concrete and dense road networks trap thermal radiation, creating urban heat islands with temperatures 3°C to 7°C above surrounding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📍</a:t>
            </a:r>
          </a:p>
          <a:p>
            <a:pPr>
              <a:spcBef>
                <a:spcPts val="1400"/>
              </a:spcBef>
              <a:defRPr sz="1800" b="1">
                <a:solidFill>
                  <a:srgbClr val="1A261E"/>
                </a:solidFill>
                <a:latin typeface="Calibri"/>
              </a:defRPr>
            </a:pPr>
            <a:r>
              <a:t>Lack of Micro-Grid Resolution</a:t>
            </a:r>
          </a:p>
          <a:p>
            <a:pPr>
              <a:spcBef>
                <a:spcPts val="10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Traditional municipal datasets measure city-wide macro averages, failing to pinpoint localized hotspots, lack of tree canopy, and vulnerable street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📉</a:t>
            </a:r>
          </a:p>
          <a:p>
            <a:pPr>
              <a:spcBef>
                <a:spcPts val="1400"/>
              </a:spcBef>
              <a:defRPr sz="1800" b="1">
                <a:solidFill>
                  <a:srgbClr val="1A261E"/>
                </a:solidFill>
                <a:latin typeface="Calibri"/>
              </a:defRPr>
            </a:pPr>
            <a:r>
              <a:t>Subjective &amp; Delayed Interventions</a:t>
            </a:r>
          </a:p>
          <a:p>
            <a:pPr>
              <a:spcBef>
                <a:spcPts val="10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Urban greening projects frequently lack empirical prioritization. Green spaces are built where convenient, rather than where thermal relief is critically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The Solution: Automated Geospatial Micro-Climate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• Real Satellite &amp; Vector Acquisition</a:t>
            </a:r>
          </a:p>
          <a:p>
            <a:pPr>
              <a:spcBef>
                <a:spcPts val="3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   Automated retrieval of live Land Surface Temperature (LST) from satellite reanalysis and OpenStreetMap building/road vector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• Spatial Polygon Grid Partitioning</a:t>
            </a:r>
          </a:p>
          <a:p>
            <a:pPr>
              <a:spcBef>
                <a:spcPts val="3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   Generates mathematically uniform 100m to 1000m planar polygonal grids, projecting WGS84 coordinates into real metric Cartesian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• Multi-Factor Priority Scoring</a:t>
            </a:r>
          </a:p>
          <a:p>
            <a:pPr>
              <a:spcBef>
                <a:spcPts val="3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   Normalizes heat, vegetation deficit (1-NDVI), built-up ratio, road density, and solar exposure to classify zones into Low, Medium, and High priority.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• Actionable &amp; Targeted Interventions</a:t>
            </a:r>
          </a:p>
          <a:p>
            <a:pPr>
              <a:spcBef>
                <a:spcPts val="3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   Recommends tailored, rule-based environmental solutions (canopy expansion, cool roofs, bioswales, pocket parks) with quantifiable rationales.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Layer 1: Geospatial Ingestion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Open-Meteo Satellite Reanalysis (Live LST)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OSM Overpass API (Buildings &amp; Roads)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Google Earth Engine API Connector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Custom GIS Shapefile/GeoJSON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Layer 2: Spatial &amp; Vector Engine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Coordinate Geocoding &amp; Bounding Box Extraction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Planar UTM Metric Projector (Shapely + PyProj)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Adaptive 4-Quadrant Chunking &amp; Deduplication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STRtree Spatial Indexing for Fast Intersections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76B45"/>
                </a:solidFill>
                <a:latin typeface="Calibri"/>
              </a:defRPr>
            </a:pPr>
            <a:r>
              <a:t>Layer 3: Analytical Delivery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Reference &amp; Relative Feature Normalization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Weighted Rule-Based Priority Scoring Engine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GeoJSON Polygon RFC 7946 Layer Generator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Leaflet Interactive Map &amp; Scenario Simulator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Engineering Breakthrough: Adaptive Spatial Quadrant Chunking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7E22"/>
                </a:solidFill>
                <a:latin typeface="Calibri"/>
              </a:defRPr>
            </a:pPr>
            <a:r>
              <a:t>The Overpass Bottleneck</a:t>
            </a:r>
          </a:p>
          <a:p>
            <a:pPr>
              <a:spcBef>
                <a:spcPts val="10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Dense metropolitan cities contain staggering numbers of structures (e.g. New York has &gt;322,000 building ways across ~320 km²).</a:t>
            </a:r>
            <a:br/>
            <a:br/>
            <a:r>
              <a:t>Single monolithic queries to public Overpass servers trigger HTTP 504 Gateway Timeouts or Apache buffer overflows, causing complete pipeline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76B45"/>
                </a:solidFill>
                <a:latin typeface="Calibri"/>
              </a:defRPr>
            </a:pPr>
            <a:r>
              <a:t>Our Adaptive Chunking Solution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1. Dynamic Thresholding: Bounding boxes &gt;0.15° (~16 km) are automatically partitioned into 4 non-overlapping quadrants (SW, SE, NW, NE).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2. Boundary Deduplication: Cross-border structures are indexed and deduplicated by unique OSM Element ID, preventing artificial polygon inflation.</a:t>
            </a:r>
          </a:p>
          <a:p>
            <a:pPr>
              <a:spcBef>
                <a:spcPts val="8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3. Partial Recovery &amp; Integrity: Successfully fetched quadrants are retained and calculated. Failures are transparently reported in metadata warnings without silent synthetic substitution.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Analytical Methodology: Environmental Decision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E6F5EB"/>
          </a:solidFill>
          <a:ln w="19050">
            <a:solidFill>
              <a:srgbClr val="17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76B45"/>
                </a:solidFill>
                <a:latin typeface="Calibri"/>
              </a:defRPr>
            </a:pPr>
            <a:r>
              <a:t>Priority Score = 0.35·Heat + 0.25·BuiltUp + 0.15·RoadDensity + 0.15·Exposure + 0.10·(1 - NDVI)</a:t>
            </a:r>
          </a:p>
          <a:p>
            <a:pPr algn="ctr">
              <a:spcBef>
                <a:spcPts val="4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All input indicators are scaled to [0.0, 1.0] using regional reference bounds to enable equitable cross-city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261E"/>
                </a:solidFill>
                <a:latin typeface="Calibri"/>
              </a:defRPr>
            </a:pPr>
            <a:r>
              <a:t>Heat Index (35%): Land Surface Temperature (°C) relative to climate baselines (18°C–48°C).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261E"/>
                </a:solidFill>
                <a:latin typeface="Calibri"/>
              </a:defRPr>
            </a:pPr>
            <a:r>
              <a:t>Built-Up Ratio (25%): Real polygon building footprint coverage per grid cell area.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261E"/>
                </a:solidFill>
                <a:latin typeface="Calibri"/>
              </a:defRPr>
            </a:pPr>
            <a:r>
              <a:t>Road Density (15%): Total road length in cell divided by cell area, normalized to 25 km/km² ceiling.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261E"/>
                </a:solidFill>
                <a:latin typeface="Calibri"/>
              </a:defRPr>
            </a:pPr>
            <a:r>
              <a:t>Solar Exposure (15%): Thermal and solar vulnerability compounded by high imperviousness.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6984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A261E"/>
                </a:solidFill>
                <a:latin typeface="Calibri"/>
              </a:defRPr>
            </a:pPr>
            <a:r>
              <a:t>Vegetation Deficit (10%): Complement of NDVI (1.0 - NDVI), highlighting canopy-deficient barren parcels.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Targeted Greening Interventions &amp; Policy Categorization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F8E6E4"/>
          </a:solidFill>
          <a:ln w="19050">
            <a:solidFill>
              <a:srgbClr val="B74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7443D"/>
                </a:solidFill>
                <a:latin typeface="Calibri"/>
              </a:defRPr>
            </a:pPr>
            <a:r>
              <a:t>CRITICAL / HIGH PRIORITY (Score &gt;= 0.66)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Intensive Urban Forest Expansion: Rapid planting of native dense canopy in severe heat corridors.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High-Albedo Cool Roofs &amp; Pavements: Mandating solar-reflective coatings on building surfaces.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Micro-Woodland Corridors: Establishing continuous pocket biomes to induce convective cooling.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10698480" cy="1417320"/>
          </a:xfrm>
          <a:prstGeom prst="roundRect">
            <a:avLst/>
          </a:prstGeom>
          <a:solidFill>
            <a:srgbClr val="F8F0DF"/>
          </a:solidFill>
          <a:ln w="19050">
            <a:solidFill>
              <a:srgbClr val="B3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37A20"/>
                </a:solidFill>
                <a:latin typeface="Calibri"/>
              </a:defRPr>
            </a:pPr>
            <a:r>
              <a:t>MEDIUM PRIORITY (0.33 &lt;= Score &lt; 0.66)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Bioswales &amp; Vegetated Road Buffers: Integrating roadside rain gardens along dense road links.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Neighborhood Pocket Parks: Reclaiming underutilized vacant lots for localized shade.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Permeable Pavers: Enhancing soil infiltration and ground thermal discharge.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417320"/>
          </a:xfrm>
          <a:prstGeom prst="roundRect">
            <a:avLst/>
          </a:prstGeom>
          <a:solidFill>
            <a:srgbClr val="E5F0E8"/>
          </a:solidFill>
          <a:ln w="19050">
            <a:solidFill>
              <a:srgbClr val="4B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B8060"/>
                </a:solidFill>
                <a:latin typeface="Calibri"/>
              </a:defRPr>
            </a:pPr>
            <a:r>
              <a:t>LOW / STABLE PRIORITY (Score &lt; 0.33)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Canopy Preservation Protocols: Protective monitoring of mature tree health and foliage.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Ecological Sensor Monitoring: Baseline environmental tracking to maintain current balance.</a:t>
            </a:r>
          </a:p>
          <a:p>
            <a:pPr>
              <a:spcBef>
                <a:spcPts val="3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• Native Groundcover Stewardship: Supporting community gardening and biodiversity.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Interactive 'What-If' Scenario Simulation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76B45"/>
                </a:solidFill>
                <a:latin typeface="Calibri"/>
              </a:defRPr>
            </a:pPr>
            <a:r>
              <a:t>How the Simulator Works</a:t>
            </a:r>
          </a:p>
          <a:p>
            <a:pPr>
              <a:spcBef>
                <a:spcPts val="800"/>
              </a:spcBef>
              <a:defRPr sz="1300">
                <a:solidFill>
                  <a:srgbClr val="1A261E"/>
                </a:solidFill>
                <a:latin typeface="Calibri"/>
              </a:defRPr>
            </a:pPr>
            <a:r>
              <a:t>• Planners select an active grid zone (e.g. Z014).</a:t>
            </a:r>
          </a:p>
          <a:p>
            <a:pPr>
              <a:spcBef>
                <a:spcPts val="800"/>
              </a:spcBef>
              <a:defRPr sz="1300">
                <a:solidFill>
                  <a:srgbClr val="1A261E"/>
                </a:solidFill>
                <a:latin typeface="Calibri"/>
              </a:defRPr>
            </a:pPr>
            <a:r>
              <a:t>• Custom slider inputs simulate proposed green interventions: reducing surface heat by 20% or increasing canopy cover (NDVI +0.35).</a:t>
            </a:r>
          </a:p>
          <a:p>
            <a:pPr>
              <a:spcBef>
                <a:spcPts val="800"/>
              </a:spcBef>
              <a:defRPr sz="1300">
                <a:solidFill>
                  <a:srgbClr val="1A261E"/>
                </a:solidFill>
                <a:latin typeface="Calibri"/>
              </a:defRPr>
            </a:pPr>
            <a:r>
              <a:t>• POST /what-if immediately recalculates the multi-factor weighted equation in milliseconds.</a:t>
            </a:r>
          </a:p>
          <a:p>
            <a:pPr>
              <a:spcBef>
                <a:spcPts val="800"/>
              </a:spcBef>
              <a:defRPr sz="1300">
                <a:solidFill>
                  <a:srgbClr val="1A261E"/>
                </a:solidFill>
                <a:latin typeface="Calibri"/>
              </a:defRPr>
            </a:pPr>
            <a:r>
              <a:t>• Outputs the exact delta (score change), category transition (High -&gt; Medium), and updated intervention priorities.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261E"/>
                </a:solidFill>
                <a:latin typeface="Calibri"/>
              </a:defRPr>
            </a:pPr>
            <a:r>
              <a:t>Real Scenario Simulation Example</a:t>
            </a:r>
          </a:p>
          <a:p>
            <a:pPr>
              <a:spcBef>
                <a:spcPts val="500"/>
              </a:spcBef>
              <a:defRPr sz="1200" b="1">
                <a:solidFill>
                  <a:srgbClr val="1A261E"/>
                </a:solidFill>
                <a:latin typeface="Calibri"/>
              </a:defRPr>
            </a:pPr>
            <a:r>
              <a:t>Target Zone: Zone Z001 (Bhopal Metropolitan Grid)</a:t>
            </a:r>
          </a:p>
          <a:p>
            <a:pPr>
              <a:spcBef>
                <a:spcPts val="500"/>
              </a:spcBef>
              <a:defRPr sz="1200">
                <a:solidFill>
                  <a:srgbClr val="647369"/>
                </a:solidFill>
                <a:latin typeface="Calibri"/>
              </a:defRPr>
            </a:pPr>
            <a:r>
              <a:t>Baseline Metrics: Heat: 0.65 | NDVI: 0.22 | Built-Up: 0.70</a:t>
            </a:r>
          </a:p>
          <a:p>
            <a:pPr>
              <a:spcBef>
                <a:spcPts val="5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Baseline Score: 0.4532 (MEDIUM Priority)</a:t>
            </a:r>
          </a:p>
          <a:p>
            <a:pPr>
              <a:spcBef>
                <a:spcPts val="5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Simulated Action: Tree Canopy Expansion (+0.48 NDVI) &amp; Cool Pavements (-0.20 Heat)</a:t>
            </a:r>
          </a:p>
          <a:p>
            <a:pPr>
              <a:spcBef>
                <a:spcPts val="500"/>
              </a:spcBef>
              <a:defRPr sz="1200" b="1">
                <a:solidFill>
                  <a:srgbClr val="1A261E"/>
                </a:solidFill>
                <a:latin typeface="Calibri"/>
              </a:defRPr>
            </a:pPr>
            <a:r>
              <a:t>Updated Score: 0.3382 (Score Change: -0.1150)</a:t>
            </a:r>
          </a:p>
          <a:p>
            <a:pPr>
              <a:spcBef>
                <a:spcPts val="500"/>
              </a:spcBef>
              <a:defRPr sz="1200">
                <a:solidFill>
                  <a:srgbClr val="1A261E"/>
                </a:solidFill>
                <a:latin typeface="Calibri"/>
              </a:defRPr>
            </a:pPr>
            <a:r>
              <a:t>Revised Directive: Transitioned to Stable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6B45"/>
                </a:solidFill>
                <a:latin typeface="Calibri"/>
              </a:defRPr>
            </a:pPr>
            <a:r>
              <a:t>URBANGREEN AI | IEEE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61E"/>
                </a:solidFill>
                <a:latin typeface="Calibri"/>
              </a:defRPr>
            </a:pPr>
            <a:r>
              <a:t>Software Quality &amp; Verification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6B45"/>
                </a:solidFill>
                <a:latin typeface="Calibri"/>
              </a:defRPr>
            </a:pPr>
            <a:r>
              <a:t>30 / 30 Passed</a:t>
            </a:r>
          </a:p>
          <a:p>
            <a:pPr>
              <a:spcBef>
                <a:spcPts val="8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Complete pytest test suite with 100% pass rate across API, pipeline, and satellite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6B45"/>
                </a:solidFill>
                <a:latin typeface="Calibri"/>
              </a:defRPr>
            </a:pPr>
            <a:r>
              <a:t>Adaptive Resilience</a:t>
            </a:r>
          </a:p>
          <a:p>
            <a:pPr>
              <a:spcBef>
                <a:spcPts val="8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Mocked tests for Overpass HTTP 504 recovery, HTTP 406 headers, and cross-boundary deduplication.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6B45"/>
                </a:solidFill>
                <a:latin typeface="Calibri"/>
              </a:defRPr>
            </a:pPr>
            <a:r>
              <a:t>Zero Fabrication</a:t>
            </a:r>
          </a:p>
          <a:p>
            <a:pPr>
              <a:spcBef>
                <a:spcPts val="8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Verified that incomplete requests report explicit metadata warnings rather than silently substituting synthetic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76B45"/>
                </a:solidFill>
                <a:latin typeface="Calibri"/>
              </a:defRPr>
            </a:pPr>
            <a:r>
              <a:t>Global Benchmark Validation</a:t>
            </a:r>
          </a:p>
          <a:p>
            <a:pPr>
              <a:spcBef>
                <a:spcPts val="800"/>
              </a:spcBef>
              <a:defRPr sz="1300">
                <a:solidFill>
                  <a:srgbClr val="647369"/>
                </a:solidFill>
                <a:latin typeface="Calibri"/>
              </a:defRPr>
            </a:pPr>
            <a:r>
              <a:t>Live testing validated across major global benchmark cities: Bhopal, Delhi, Paris, and New York.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Empowering Climate-Resilient Cities</a:t>
            </a:r>
          </a:p>
          <a:p>
            <a:pPr>
              <a:spcBef>
                <a:spcPts val="800"/>
              </a:spcBef>
              <a:defRPr sz="1800">
                <a:solidFill>
                  <a:srgbClr val="2ECC71"/>
                </a:solidFill>
                <a:latin typeface="Calibri"/>
              </a:defRPr>
            </a:pPr>
            <a:r>
              <a:t>UrbanGreen AI bridges the gap between complex Earth observation rasters and actionable, street-level municipal greening policies.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10698480" cy="2560320"/>
          </a:xfrm>
          <a:prstGeom prst="roundRect">
            <a:avLst/>
          </a:prstGeom>
          <a:solidFill>
            <a:srgbClr val="162D21"/>
          </a:solidFill>
          <a:ln>
            <a:solidFill>
              <a:srgbClr val="28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Resources &amp; Live Links</a:t>
            </a:r>
          </a:p>
          <a:p>
            <a:pPr>
              <a:spcBef>
                <a:spcPts val="600"/>
              </a:spcBef>
              <a:defRPr sz="1300">
                <a:solidFill>
                  <a:srgbClr val="2ECC71"/>
                </a:solidFill>
                <a:latin typeface="Calibri"/>
              </a:defRPr>
            </a:pPr>
            <a:r>
              <a:t>• Live Interactive Web App: https://urbangreen-ai.onrender.com/ui</a:t>
            </a:r>
          </a:p>
          <a:p>
            <a:pPr>
              <a:spcBef>
                <a:spcPts val="600"/>
              </a:spcBef>
              <a:defRPr sz="1300">
                <a:solidFill>
                  <a:srgbClr val="2ECC71"/>
                </a:solidFill>
                <a:latin typeface="Calibri"/>
              </a:defRPr>
            </a:pPr>
            <a:r>
              <a:t>• Interactive API Docs (Swagger): https://urbangreen-ai.onrender.com/docs</a:t>
            </a:r>
          </a:p>
          <a:p>
            <a:pPr>
              <a:spcBef>
                <a:spcPts val="600"/>
              </a:spcBef>
              <a:defRPr sz="1300">
                <a:solidFill>
                  <a:srgbClr val="2ECC71"/>
                </a:solidFill>
                <a:latin typeface="Calibri"/>
              </a:defRPr>
            </a:pPr>
            <a:r>
              <a:t>• GitHub Open-Source Repository: https://github.com/sunny-kumar-yadav-byte/urbangreen-ai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System Architecture &amp; Tests: 30 passing automated tests | FastAPI + Leaflet + GeoJSON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